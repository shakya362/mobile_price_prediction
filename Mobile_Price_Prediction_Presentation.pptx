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D6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3D62"/>
                </a:solidFill>
                <a:latin typeface="Arial"/>
              </a:rPr>
              <a:t>MAE (₹, 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(₹)</c:v>
                </c:pt>
              </c:strCache>
            </c:strRef>
          </c:tx>
          <c:spPr>
            <a:solidFill>
              <a:srgbClr val="0B3D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Decision Tree</c:v>
                  </c:pt>
                  <c:pt idx="2">
                    <c:v>Linear Regression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1598.1</c:v>
                </c:pt>
                <c:pt idx="1">
                  <c:v>2188.55</c:v>
                </c:pt>
                <c:pt idx="2">
                  <c:v>2729.7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D6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3D62"/>
                </a:solidFill>
                <a:latin typeface="Arial"/>
              </a:rPr>
              <a:t>RMSE (₹, 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(₹)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Decision Tree</c:v>
                  </c:pt>
                  <c:pt idx="2">
                    <c:v>Linear Regression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4091.87</c:v>
                </c:pt>
                <c:pt idx="1">
                  <c:v>4760.44</c:v>
                </c:pt>
                <c:pt idx="2">
                  <c:v>5862.01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D6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3D62"/>
                </a:solidFill>
                <a:latin typeface="Arial"/>
              </a:rPr>
              <a:t>R² (higher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Random Forest</c:v>
                  </c:pt>
                  <c:pt idx="1">
                    <c:v>Decision Tree</c:v>
                  </c:pt>
                  <c:pt idx="2">
                    <c:v>Linear Regression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0.8785</c:v>
                </c:pt>
                <c:pt idx="1">
                  <c:v>0.8356</c:v>
                </c:pt>
                <c:pt idx="2">
                  <c:v>0.7507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Processor: Google Tensor</c:v>
                  </c:pt>
                  <c:pt idx="1">
                    <c:v>Processor: Helio</c:v>
                  </c:pt>
                  <c:pt idx="2">
                    <c:v>Brand: Samsung</c:v>
                  </c:pt>
                  <c:pt idx="3">
                    <c:v>Mobile Height</c:v>
                  </c:pt>
                  <c:pt idx="4">
                    <c:v>Rear Camera (MP)</c:v>
                  </c:pt>
                  <c:pt idx="5">
                    <c:v>RAM</c:v>
                  </c:pt>
                  <c:pt idx="6">
                    <c:v>Memory</c:v>
                  </c:pt>
                  <c:pt idx="7">
                    <c:v>Battery</c:v>
                  </c:pt>
                  <c:pt idx="8">
                    <c:v>Brand: Google</c:v>
                  </c:pt>
                  <c:pt idx="9">
                    <c:v>Front Camera (MP)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0.0071</c:v>
                </c:pt>
                <c:pt idx="1">
                  <c:v>0.0085</c:v>
                </c:pt>
                <c:pt idx="2">
                  <c:v>0.0129</c:v>
                </c:pt>
                <c:pt idx="3">
                  <c:v>0.0409</c:v>
                </c:pt>
                <c:pt idx="4">
                  <c:v>0.0491</c:v>
                </c:pt>
                <c:pt idx="5">
                  <c:v>0.0769</c:v>
                </c:pt>
                <c:pt idx="6">
                  <c:v>0.0845</c:v>
                </c:pt>
                <c:pt idx="7">
                  <c:v>0.0906</c:v>
                </c:pt>
                <c:pt idx="8">
                  <c:v>0.109</c:v>
                </c:pt>
                <c:pt idx="9">
                  <c:v>0.4815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B3D6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pic>
        <p:nvPicPr>
          <p:cNvPr id="4" name="Image 0" descr="icons/mobi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SOLUTIONS  |  ML PROJECT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 &amp;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Prediction for Mobile Phones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the device specifications that most influence mobile phone pricing, and building a predictive model the business can trust.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709160"/>
            <a:ext cx="91440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Kumar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5285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Processed_Flipdata.xlsx  •  541 Flipkart mobile phone listings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5" name="Image 0" descr="icons/searchdolla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6479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819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Scenario &amp; Objective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18928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business needs this model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89320" y="16733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76479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75120" y="15819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Quality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675120" y="18928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 listings, 11 raw features, zero gaps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2843784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3" name="Image 2" descr="icons/co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35224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7523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34440" y="3063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text specs into usable numbers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989320" y="284378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3" descr="icons/chartb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935224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75120" y="27523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675120" y="3063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bivariate &amp; multivariate patterns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014216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21" name="Image 4" descr="icons/gri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05656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39227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234440" y="42336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Correlation-based ranking of price drivers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989320" y="401421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5" descr="icons/layer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4105656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75120" y="39227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6675120" y="42336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encoding, standardization, normalization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548640" y="5184648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29" name="Image 6" descr="icons/brain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276088"/>
            <a:ext cx="320040" cy="32004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234440" y="5093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&amp; Evaluation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1234440" y="54041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Decision Tree, Random Forest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5989320" y="51846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7" descr="icons/star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5276088"/>
            <a:ext cx="320040" cy="32004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675120" y="5093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Recommendations</a:t>
            </a:r>
            <a:endParaRPr lang="en-US" sz="1500" dirty="0"/>
          </a:p>
        </p:txBody>
      </p:sp>
      <p:sp>
        <p:nvSpPr>
          <p:cNvPr id="35" name="Text 25"/>
          <p:cNvSpPr/>
          <p:nvPr/>
        </p:nvSpPr>
        <p:spPr>
          <a:xfrm>
            <a:off x="6675120" y="54041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drives price, and what to do about it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Price Prediction  |  Ashish Kumar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&amp;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3D62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12848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phone retailer wants to sharpen its pricing strategy by understanding which device specifications genuinely drive price in today's competitive market — and to build a model that estimates price directly from those specifications.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904488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accurately estimates mobile phone price from its features, and run a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analysis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pinpoint the most influential specs — turning that insight into concrete pricing and marketing recommendations.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223760" y="1600200"/>
            <a:ext cx="4434840" cy="4480560"/>
          </a:xfrm>
          <a:prstGeom prst="roundRect">
            <a:avLst>
              <a:gd name="adj" fmla="val 1649"/>
            </a:avLst>
          </a:prstGeom>
          <a:solidFill>
            <a:srgbClr val="0B3D62"/>
          </a:solidFill>
          <a:ln/>
          <a:effectLst>
            <a:outerShdw sx="100000" sy="100000" kx="0" ky="0" algn="bl" rotWithShape="0" blurRad="101600" dist="38100" dir="2700000">
              <a:srgbClr val="0B3D62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43800" y="1828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200" dirty="0"/>
          </a:p>
        </p:txBody>
      </p:sp>
      <p:pic>
        <p:nvPicPr>
          <p:cNvPr id="11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2313432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882128" y="22128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 report: exploration → extraction → modeling</a:t>
            </a:r>
            <a:endParaRPr lang="en-US" sz="1250" dirty="0"/>
          </a:p>
        </p:txBody>
      </p:sp>
      <p:pic>
        <p:nvPicPr>
          <p:cNvPr id="13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327355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82128" y="317296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Full, reproducible code and notebook</a:t>
            </a:r>
            <a:endParaRPr lang="en-US" sz="1250" dirty="0"/>
          </a:p>
        </p:txBody>
      </p:sp>
      <p:pic>
        <p:nvPicPr>
          <p:cNvPr id="15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423367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882128" y="413308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of feature importance &amp; price impact</a:t>
            </a:r>
            <a:endParaRPr lang="en-US" sz="1250" dirty="0"/>
          </a:p>
        </p:txBody>
      </p:sp>
      <p:pic>
        <p:nvPicPr>
          <p:cNvPr id="17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9379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882128" y="509320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pricing &amp; marketing recommendations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Price Prediction  |  Ashish Kumar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DATA EXPLORATION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2700000">
              <a:srgbClr val="0B3D62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562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2700000">
              <a:srgbClr val="0B3D62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8562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8328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2700000">
              <a:srgbClr val="0B3D62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8562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₹920 – ₹80,999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1792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560" y="16916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5F8FA"/>
          </a:solidFill>
          <a:ln/>
          <a:effectLst>
            <a:outerShdw sx="100000" sy="100000" kx="0" ky="0" algn="bl" rotWithShape="0" blurRad="76200" dist="25400" dir="2700000">
              <a:srgbClr val="0B3D62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856232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05256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Types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</p:sp>
      <p:pic>
        <p:nvPicPr>
          <p:cNvPr id="18" name="Image 0" descr="icons/mem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178808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80160" y="41422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77240" y="4663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RAM, Battery, Mobile Height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89120" y="3977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</p:sp>
      <p:pic>
        <p:nvPicPr>
          <p:cNvPr id="22" name="Image 1" descr="icons/ta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4178808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120640" y="41422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4617720" y="4663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Colour, Processor, Camera specs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8229600" y="397764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</p:sp>
      <p:pic>
        <p:nvPicPr>
          <p:cNvPr id="26" name="Image 2" descr="icons/chi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178808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961120" y="41422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458200" y="4663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Lens (0 / 1)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54864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and no duplicate rows were found — the dataset was complete and clean from the start, needing no imputation.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Price Prediction  |  Ashish Kumar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Raw Specs Usable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3D62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6" name="Image 0" descr="icons/ta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Extraction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the first word of the 187-value Model field (e.g. "MOTOROLA G62 5G" → MOTOROLA), cutting cardinality while preserving pricing signal. Brand names normalized for consistency (I KALL, MICROMAX).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3D62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6596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1" name="Image 1" descr="icons/camera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031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MP Conversion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17720" y="324612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Camera and Front Camera arrived as text ("50MP"). Stripped the unit and cast to numeric megapixels — Rear_Camera_MP and Front_Camera_MP — so they can be plotted, correlated, and modeled.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3D62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965960"/>
            <a:ext cx="594360" cy="59436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16" name="Image 2" descr="icons/chi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1031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Family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12480" y="324612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raw processor strings grouped into 7 families — Snapdragon, Dimensity, Helio, Unisoc, Exynos, Apple Bionic, Google Tensor — a far more model-friendly categorical feature.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three noisy, high-cardinality text columns become clean, model-ready numeric and categorical features.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Price Prediction  |  Ashish Kumar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Is Right-Skewed</a:t>
            </a:r>
            <a:endParaRPr lang="en-US" sz="3000" dirty="0"/>
          </a:p>
        </p:txBody>
      </p:sp>
      <p:pic>
        <p:nvPicPr>
          <p:cNvPr id="4" name="Image 0" descr="charts/pric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7040880" cy="22095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63840" y="1691640"/>
            <a:ext cx="3794760" cy="4114800"/>
          </a:xfrm>
          <a:prstGeom prst="roundRect">
            <a:avLst>
              <a:gd name="adj" fmla="val 1928"/>
            </a:avLst>
          </a:prstGeom>
          <a:solidFill>
            <a:srgbClr val="F5F8FA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1920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Distribution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38160" y="237744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≈ 2.4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≈ 9.6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phones cluster in the budget/mid-range ₹5,000–₹20,000 band.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tail of flagship devices (iPhones, Galaxy S-series, Pixel) pulls the mean above the median.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non-normal shape favors tree-based models, which don't assume linearity or normality.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Price Prediction  |  Ashish Kumar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Specs Cluster at Common Tiers</a:t>
            </a:r>
            <a:endParaRPr lang="en-US" sz="3000" dirty="0"/>
          </a:p>
        </p:txBody>
      </p:sp>
      <p:pic>
        <p:nvPicPr>
          <p:cNvPr id="4" name="Image 0" descr="charts/numeric_spec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156" y="1600200"/>
            <a:ext cx="8031383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and RAM show step-wise clustering at industry-standard tiers (32/64/128/256GB, 2/4/6/8GB). Battery concentrates heavily around 5,000mAh. Mobile Height clusters tightly ~16–17cm, apart from a small group of basic/feature phones.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Price Prediction  |  Ashish Kumar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&amp; Processor Landscape</a:t>
            </a:r>
            <a:endParaRPr lang="en-US" sz="3000" dirty="0"/>
          </a:p>
        </p:txBody>
      </p:sp>
      <p:pic>
        <p:nvPicPr>
          <p:cNvPr id="4" name="Image 0" descr="charts/brand_processor_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8" y="1691640"/>
            <a:ext cx="11064240" cy="3635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REALME, REDMI, INFINIX, VIVO and POCO dominate the listing count — this dataset skews toward budget/mid-range Android brands, with only a handful of Apple/Google/OnePlus flagships. Helio and Snapdragon are the most common processor families. Only ~6% of phones carry an AI Lens.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Price Prediction  |  Ashish Kumar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vs. Specifications</a:t>
            </a:r>
            <a:endParaRPr lang="en-US" sz="3000" dirty="0"/>
          </a:p>
        </p:txBody>
      </p:sp>
      <p:pic>
        <p:nvPicPr>
          <p:cNvPr id="4" name="Image 0" descr="charts/price_vs_specs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0676" y="1600200"/>
            <a:ext cx="7450343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RAM, and both camera specs show a clear upward trend with price. Battery shows almost no visible trend — most phones sit at 5,000mAh regardless of price tier. Mobile Height shows only a weak, noisy relationship.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Price Prediction  |  Ashish Kumar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Carries Its Own Premium</a:t>
            </a:r>
            <a:endParaRPr lang="en-US" sz="3000" dirty="0"/>
          </a:p>
        </p:txBody>
      </p:sp>
      <p:pic>
        <p:nvPicPr>
          <p:cNvPr id="4" name="Image 0" descr="charts/price_by_brand_box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675120" cy="328329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69164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5F8FA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772400" y="237744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and Google command far higher median prices than budget brands like Micromax, Itel, and Lava.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same RAM tier, premium brands sit visibly higher than budget brands.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Brand is retained as a modeled categorical feature rather than dropped after correlation analysis.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Price Prediction  |  Ashish Kumar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FEATURE EXTRACTION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With Price</a:t>
            </a:r>
            <a:endParaRPr lang="en-US" sz="3000" dirty="0"/>
          </a:p>
        </p:txBody>
      </p:sp>
      <p:pic>
        <p:nvPicPr>
          <p:cNvPr id="4" name="Image 0" descr="charts/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482486" cy="429768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45920"/>
          <a:ext cx="51663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691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Corr. with Price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Memory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0.567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Front Camera (MP)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0.532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RAM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0.532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Rear Camera (MP)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0.410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Mobile Height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0.222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Battery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−0.034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AI Lens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</a:rPr>
                        <a:t>−0.154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92240" y="507492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camera MP, and RAM show the strongest positive correlation with price. Battery and AI Lens show almost no linear correlation — but that doesn't rule out non-linear importance, confirmed later by the Random Forest.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Price Prediction  |  Ashish Kumar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&amp; Feature Scaling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3D62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6" name="Image 0" descr="icons/lis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46120" y="2011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7D2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Processor Family converted to integer codes rather than one-hot dummies — compact, and well-suited to the tree-based models used here.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3D62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9659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chartli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031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2011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7D2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61772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17720" y="324612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 (Memory, RAM, Battery, Height, Camera MP) rescaled to mean 0 / std 1, so no single spec's raw scale dominates a coefficient-based model.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1691640"/>
            <a:ext cx="3520440" cy="37947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B3D62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0" y="196596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8" name="Image 2" descr="icons/gri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1031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835640" y="2011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7D2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41248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12480" y="3246120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numeric features rescaled to a 0–1 range via Min-Max scaling, computed and compared alongside standardization.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standardized numeric features are combined with label-encoded categoricals and the binary AI Lens flag to build the final model-ready feature matrix.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Price Prediction  |  Ashish Kumar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MODEL BUILDING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Algorithms, Increasing Complexity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B3D62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0B3D62"/>
          </a:solidFill>
          <a:ln/>
        </p:spPr>
      </p:sp>
      <p:pic>
        <p:nvPicPr>
          <p:cNvPr id="6" name="Image 0" descr="icons/chartlin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linear baseline — assumes price moves proportionally with each spec.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5F8FA"/>
          </a:solidFill>
          <a:ln/>
          <a:effectLst>
            <a:outerShdw sx="100000" sy="100000" kx="0" ky="0" algn="bl" rotWithShape="0" blurRad="101600" dist="38100" dir="2700000">
              <a:srgbClr val="0B3D62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659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site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031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3246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on feature thresholds (max depth 8) — captures non-linear jumps, e.g. mid-range to flagship.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0B3D62"/>
          </a:solidFill>
          <a:ln/>
          <a:effectLst>
            <a:outerShdw sx="100000" sy="100000" kx="0" ky="0" algn="bl" rotWithShape="0" blurRad="101600" dist="38100" dir="2700000">
              <a:srgbClr val="0B3D62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96596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6" name="Image 2" descr="icons/troph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1031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743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12480" y="3246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4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300 trees (max depth 12) — averages out overfitting for the most robust predictions.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52578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5F8FA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54406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   </a:t>
            </a:r>
            <a:pPr indent="0" marL="0">
              <a:buNone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432 training rows   •   109 held-out test rows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Price Prediction  |  Ashish Kumar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MODEL 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Wins on Every Metric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3520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251960" y="1691640"/>
          <a:ext cx="3520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7955280" y="1691640"/>
          <a:ext cx="3520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 2"/>
          <p:cNvSpPr/>
          <p:nvPr/>
        </p:nvSpPr>
        <p:spPr>
          <a:xfrm>
            <a:off x="548640" y="54406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achieves the lowest error and highest R² (≈0.88) — its predictions are, on average, within roughly ₹1,600 of the actual price. It comfortably outperforms a single Decision Tree and plain Linear Regression, which struggles with price's non-linear jump from mid-range to flagship.</a:t>
            </a:r>
            <a:endParaRPr lang="en-US" sz="1250" dirty="0"/>
          </a:p>
        </p:txBody>
      </p:sp>
      <p:sp>
        <p:nvSpPr>
          <p:cNvPr id="8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Price Prediction  |  Ashish Kumar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FEATURE IMPORTANCE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Price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64592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5F8FA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Takeaways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366760" y="228600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Camera MP dominates — by far the strongest single predictor.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(Google, Samsung) adds a premium independent of raw specs.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ranks in the top 5 despite near-zero linear correlation — its effect is threshold-based, not linear.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RAM and Rear Camera round out the core price drivers.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Price Prediction  |  Ashish Kumar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· 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Organization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B3D62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pricing on Memory, RAM &amp; Front Camera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strongest, most consistent drivers across every method used — EDA, correlation, and Random Forest.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B3D62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82880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377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marketing with camera specs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926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camera MP is the single highest-importance feature — buyers pay a premium for it, so it deserves top billing in listings and ads.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B3D62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82880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3774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battery as a tier marker, not a dial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29260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linear correlation with price, yet top-5 importance — most phones cluster at 5,000mAh, so use it to segment, not to price continuously.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B3D62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7091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in a brand premium explicitly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2578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and Samsung command higher prices even after accounting for specs — factor brand equity into competitive pricing.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931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B3D62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16052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0" y="47091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 Colour &amp; processor sub-model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52578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was too sparse to encode reliably; specific processor identity mattered far less than expected once grouped into families.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931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B3D62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16052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66760" y="47091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Random Forest to production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66760" y="52578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≈ ₹1,600, R² ≈ 0.88 — the most accurate of the three while staying interpretable via feature importances.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Price Prediction  |  Ashish Kumar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0B3D6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840480" cy="384048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pic>
        <p:nvPicPr>
          <p:cNvPr id="4" name="Image 0" descr="icons/fl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178308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Specs Explain Price — And Random Forest Proves It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RAM, and camera specifications are the clearest, most defensible drivers of mobile phone pricing in this dataset, with brand contributing a meaningful premium on top of specs. A Random Forest model trained on these engineered features predicts price with an average error of roughly ₹1,600, explaining ~88% of price variance — a solid foundation for a data-driven pricing strategy tool.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074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₹1,598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" y="5669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Error (MAE)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29000" y="5074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429000" y="5669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5074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6035040" y="5669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Ashish Kumar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Extraction &amp; Price Prediction for Mobile Phones</dc:title>
  <dc:subject>PptxGenJS Presentation</dc:subject>
  <dc:creator>Ashish Kumar</dc:creator>
  <cp:lastModifiedBy>Ashish Kumar</cp:lastModifiedBy>
  <cp:revision>1</cp:revision>
  <dcterms:created xsi:type="dcterms:W3CDTF">2026-07-06T21:39:04Z</dcterms:created>
  <dcterms:modified xsi:type="dcterms:W3CDTF">2026-07-06T21:39:04Z</dcterms:modified>
</cp:coreProperties>
</file>